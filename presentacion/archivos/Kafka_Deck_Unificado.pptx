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TÉCNICA · APACHE KAFKA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Nervioso Central de los Datos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154680"/>
            <a:ext cx="10972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83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visual del ecosistema, anatomía y casos de uso de la plataforma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streaming de eventos más adoptada en arquitecturas modernas.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0332720" cy="10972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68127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31551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94422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7846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20717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4141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7011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10435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3306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6730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99601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63025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25896" y="5193792"/>
            <a:ext cx="653143" cy="768096"/>
          </a:xfrm>
          <a:prstGeom prst="rect">
            <a:avLst/>
          </a:prstGeom>
          <a:solidFill>
            <a:srgbClr val="D97706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52191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5615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78486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41910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04781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68205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31075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4499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57370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20794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383665" y="5193792"/>
            <a:ext cx="653143" cy="768096"/>
          </a:xfrm>
          <a:prstGeom prst="rect">
            <a:avLst/>
          </a:prstGeom>
          <a:solidFill>
            <a:srgbClr val="E2E8F0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47089" y="5303520"/>
            <a:ext cx="72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91088" y="5029200"/>
            <a:ext cx="164592" cy="10972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0664" y="5029200"/>
            <a:ext cx="164592" cy="10972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desarrollador · 17 slides · Versión unificada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· EL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La Telaraña de Integraciones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necesitamos un sistema nervioso para los datos?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a Punto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3291840"/>
            <a:ext cx="33832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291840"/>
            <a:ext cx="0" cy="1920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291840"/>
            <a:ext cx="3200400" cy="1920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91840"/>
            <a:ext cx="1554480" cy="9601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3291840"/>
            <a:ext cx="-3383280" cy="1920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291840"/>
            <a:ext cx="-182880" cy="19202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291840"/>
            <a:ext cx="-1828800" cy="9601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5212080"/>
            <a:ext cx="3200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5212080"/>
            <a:ext cx="1554480" cy="-9601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5212080"/>
            <a:ext cx="-1645920" cy="-96012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017520"/>
            <a:ext cx="128016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3017520"/>
            <a:ext cx="128016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017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937760"/>
            <a:ext cx="128016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37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0" y="4937760"/>
            <a:ext cx="128016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4937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3977640"/>
            <a:ext cx="128016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3977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Batch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828800"/>
            <a:ext cx="548640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8B8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Centralizado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8138160" y="3840480"/>
            <a:ext cx="1645920" cy="91440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3840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3108960"/>
            <a:ext cx="1280160" cy="548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40880" y="3383280"/>
            <a:ext cx="1920240" cy="914400"/>
          </a:xfrm>
          <a:prstGeom prst="line">
            <a:avLst/>
          </a:prstGeom>
          <a:noFill/>
          <a:ln w="19050">
            <a:solidFill>
              <a:srgbClr val="5EBA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41280" y="3108960"/>
            <a:ext cx="1280160" cy="548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881360" y="3383280"/>
            <a:ext cx="-1920240" cy="914400"/>
          </a:xfrm>
          <a:prstGeom prst="line">
            <a:avLst/>
          </a:prstGeom>
          <a:noFill/>
          <a:ln w="19050">
            <a:solidFill>
              <a:srgbClr val="5EBA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5120640"/>
            <a:ext cx="1280160" cy="548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5120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Datos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40880" y="5394960"/>
            <a:ext cx="1920240" cy="-1097280"/>
          </a:xfrm>
          <a:prstGeom prst="line">
            <a:avLst/>
          </a:prstGeom>
          <a:noFill/>
          <a:ln w="19050">
            <a:solidFill>
              <a:srgbClr val="5EBA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41280" y="5120640"/>
            <a:ext cx="1280160" cy="5486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41280" y="5120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881360" y="5394960"/>
            <a:ext cx="-1920240" cy="-1097280"/>
          </a:xfrm>
          <a:prstGeom prst="line">
            <a:avLst/>
          </a:prstGeom>
          <a:noFill/>
          <a:ln w="19050">
            <a:solidFill>
              <a:srgbClr val="5EBA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sistema nuevo = </a:t>
            </a:r>
            <a:pPr algn="ctr"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m integraciones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 Kafka, cada sistema solo se conecta una vez al hub central.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· SLIDE ANCLA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Apache Kafka? La Tesis en una Frase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10332720" cy="1737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554480"/>
            <a:ext cx="109728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9164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es una </a:t>
            </a:r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distribuida de streaming de eventos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es una cola: es un </a:t>
            </a:r>
            <a:pPr indent="0" marL="0">
              <a:buNone/>
            </a:pPr>
            <a:r>
              <a:rPr lang="en-US" sz="2200" b="1" dirty="0">
                <a:solidFill>
                  <a:srgbClr val="5E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inmutable y replicable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donde los productores publican eventos y los consumidores los leen a su propio ritmo, totalmente desacoplados.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51560" y="3657600"/>
            <a:ext cx="3169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3657600"/>
            <a:ext cx="31699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840480"/>
            <a:ext cx="316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234440" y="4572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cola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5074920"/>
            <a:ext cx="271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mensajes no se borran al leerse. Persisten en disco como un log de solo adición.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95800" y="3657600"/>
            <a:ext cx="3169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5800" y="3657600"/>
            <a:ext cx="316992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5800" y="3840480"/>
            <a:ext cx="316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↹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78680" y="4572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total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24400" y="5074920"/>
            <a:ext cx="271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productores no saben quién leerá. Los consumidores leen cuando quieran.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40040" y="3657600"/>
            <a:ext cx="3169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40040" y="3657600"/>
            <a:ext cx="31699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40040" y="3840480"/>
            <a:ext cx="316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122920" y="4572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68640" y="5074920"/>
            <a:ext cx="271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disponibles en milisegundos, escalable a millones por segundo.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vs. Mensajería Tradicional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Kafka no es simplemente “otra” cola?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958645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98725" y="1828800"/>
            <a:ext cx="4461358" cy="777240"/>
          </a:xfrm>
          <a:prstGeom prst="rect">
            <a:avLst/>
          </a:prstGeom>
          <a:solidFill>
            <a:srgbClr val="47556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5885" y="182880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tradicional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(RabbitMQ, ActiveMQ)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60082" y="1828800"/>
            <a:ext cx="4461358" cy="777240"/>
          </a:xfrm>
          <a:prstGeom prst="rect">
            <a:avLst/>
          </a:prstGeom>
          <a:solidFill>
            <a:srgbClr val="0F2A4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7242" y="182880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eventos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(Apache Kafka)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195864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60604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98725" y="2606040"/>
            <a:ext cx="4461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5885" y="260604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Transitoria.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se borra al leerse.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60082" y="2606040"/>
            <a:ext cx="4461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7242" y="260604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inmutable, días o años.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1958645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38328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ruteo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98725" y="3383280"/>
            <a:ext cx="4461358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5885" y="338328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inteligente,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pasivo.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60082" y="3383280"/>
            <a:ext cx="4461358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97242" y="338328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simple,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inteligente.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160520"/>
            <a:ext cx="1958645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6052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Acoplamiento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98725" y="4160520"/>
            <a:ext cx="4461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5885" y="416052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atadas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destinatario.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60082" y="4160520"/>
            <a:ext cx="4461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97242" y="416052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desacoplado,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consumidores leen igual.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937760"/>
            <a:ext cx="1958645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937760"/>
            <a:ext cx="16843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598725" y="4937760"/>
            <a:ext cx="4461358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35885" y="493776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por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nodo central.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60082" y="4937760"/>
            <a:ext cx="4461358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7242" y="4937760"/>
            <a:ext cx="41870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Horizontal, distribuida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particiones.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cambia el contrato: </a:t>
            </a:r>
            <a:pPr algn="ctr"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vive en el log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 consumidores deciden qué leer y cuándo.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MÍNIMA · SLIDE ANCLA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Siete Términos que Importan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mínimo para hablar de Kafka con propiedad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267462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de información: clave, valor, timestamp y headers.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14700" y="182880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1828800"/>
            <a:ext cx="2674620" cy="10972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7580" y="205740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97580" y="246888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(Topic)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97580" y="278892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canal lógico donde fluyen los eventos relacionados.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828800"/>
            <a:ext cx="2674620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5740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246888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(Partition)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278892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Subdivisión física del Tópico; unidad de paralelismo.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29700" y="182880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9700" y="1828800"/>
            <a:ext cx="2674620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2580" y="205740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12580" y="246888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(Offset)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12580" y="278892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secuencial del evento dentro de la partición.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23360"/>
            <a:ext cx="267462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5196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0080" y="466344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(Producer)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98348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que escribe eventos en uno o más Tópicos.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4700" y="402336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4700" y="4023360"/>
            <a:ext cx="2674620" cy="10972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97580" y="425196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497580" y="466344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(Consumer)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97580" y="498348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que se suscribe y lee a su propio ritmo.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4023360"/>
            <a:ext cx="26746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4023360"/>
            <a:ext cx="2674620" cy="10972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251960"/>
            <a:ext cx="2308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355080" y="4663440"/>
            <a:ext cx="2308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(Broker)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498348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del clúster que almacena particiones.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29700" y="4023360"/>
            <a:ext cx="2674620" cy="19202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12580" y="4389120"/>
            <a:ext cx="2308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estos 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12580" y="4937760"/>
            <a:ext cx="23088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dominas estos siete términos, puedes leer el 90% de la documentación de Kafka sin tropezar.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· PILAR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(Topics): El Canal de Comunicación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lógicas append-only donde fluyen los eventos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</a:t>
            </a:r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lógica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donde fluyen eventos relacionados (ej. </a:t>
            </a:r>
            <a:pPr indent="0" marL="0">
              <a:buNone/>
            </a:pPr>
            <a:r>
              <a:rPr lang="en-US" sz="1400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ordenes_de_compra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Append-Only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una base de datos relacional, los datos en un Tópico no se actualizan ni se borran. Los nuevos eventos simplemente se añaden al final del log.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escribe en el Tópico no necesita saber quién (ni cuántos) lo están leyendo.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828800"/>
            <a:ext cx="57607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011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Tópico ordenes_de_compra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5029200" cy="8229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14693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8117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1154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4578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87614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51038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74075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7499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0536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46997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10421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33458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96882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319918" y="2866644"/>
            <a:ext cx="413309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83342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806379" y="2866644"/>
            <a:ext cx="413309" cy="576072"/>
          </a:xfrm>
          <a:prstGeom prst="rect">
            <a:avLst/>
          </a:prstGeom>
          <a:solidFill>
            <a:srgbClr val="D97706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69803" y="2948940"/>
            <a:ext cx="48646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1173968" y="2743200"/>
            <a:ext cx="164592" cy="82296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27064" y="2743200"/>
            <a:ext cx="164592" cy="82296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append (escribir al final)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antiguos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14400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recientes →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4754880"/>
            <a:ext cx="502920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La regla del log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52120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solo se añaden al final.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modifican. No se eliminan (hasta que expire la retención).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· PILAR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 (Partitions): La Unidad de Paralelismo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Kafka escala horizontalmente repartiendo un Tópico entre Brokers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577840"/>
            <a:ext cx="210312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5577840"/>
            <a:ext cx="210312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5577840"/>
            <a:ext cx="2103120" cy="5486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5577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057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685800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95628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59052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32304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8980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32404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05656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42332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5756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79008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15684" y="238201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9108" y="244602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33488" y="2286000"/>
            <a:ext cx="164592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" y="2286000"/>
            <a:ext cx="164592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63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291840"/>
            <a:ext cx="685800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595628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59052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32304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95728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68980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32404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05656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69080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42332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5756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779008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42432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15684" y="338785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9108" y="345186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33488" y="3291840"/>
            <a:ext cx="164592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7784" y="3291840"/>
            <a:ext cx="164592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4297680"/>
            <a:ext cx="685800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8952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2376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595628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559052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432304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95728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68980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32404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105656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69080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942332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905756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779008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42432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615684" y="4393692"/>
            <a:ext cx="763524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79108" y="4457700"/>
            <a:ext cx="836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333488" y="4297680"/>
            <a:ext cx="164592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784" y="4297680"/>
            <a:ext cx="164592" cy="6400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29600" y="2011680"/>
            <a:ext cx="34747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011680"/>
            <a:ext cx="91440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582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 física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845820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dividir un Tópico, sus particiones pueden distribuirse en múltiples Brokers, permitiendo lectura y escritura en paralelo.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45820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parcial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845820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cronológico se garantiza dentro de una misma partición — no a nivel de todo el Tópico.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458200" y="5669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Regla práctica: </a:t>
            </a:r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particiones = más paralelismo, pero también más overhead de coordinación.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· PILAR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Offsets: El Identificador Inmutable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64 bits que ubica cada evento dentro de su partición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Offset es un </a:t>
            </a:r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entero de 64 bits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único y secuencial, asignado en el instante en que un evento entra a la partición.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Inmutabilidad absoluta: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asignado, nunca cambia. Es el ‘número de página’ del evento dentro del log.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10881360" cy="10972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52016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5440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45080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08504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38144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31208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4632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24272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7696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17336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10400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3824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3464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6888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796528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59952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689592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53016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582656" y="3273552"/>
            <a:ext cx="819912" cy="768096"/>
          </a:xfrm>
          <a:prstGeom prst="rect">
            <a:avLst/>
          </a:prstGeom>
          <a:solidFill>
            <a:srgbClr val="F1F5F9"/>
          </a:solidFill>
          <a:ln w="6350">
            <a:solidFill>
              <a:srgbClr val="0F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46080" y="3383280"/>
            <a:ext cx="893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356848" y="3108960"/>
            <a:ext cx="164592" cy="10972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" y="3108960"/>
            <a:ext cx="164592" cy="10972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08504" y="4251960"/>
            <a:ext cx="0" cy="36576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76984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Low-water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Offset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759952" y="4251960"/>
            <a:ext cx="0" cy="36576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28432" y="4617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High-water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Offset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antes del low-water están truncados (retención expirada).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por encima del high-water aún no están replicados a todas las ISR.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consumidor mantiene su propio offset. Es lo que permite que múltiples consumidores lean el mismo Tópico sin estorbarse.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· PILAR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(Producers): La Lógica de Ruteo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 a qué partición va cada evento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productor es el rey: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 decide a dónde va cada evento. Si el mensaje tiene una </a:t>
            </a:r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(Key)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productor aplica una función </a:t>
            </a:r>
            <a:pPr indent="0" marL="0">
              <a:buNone/>
            </a:pPr>
            <a:r>
              <a:rPr lang="en-US" sz="1400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garantizar que todos los eventos con la misma clave caigan siempre en la misma partición.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6459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User_45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100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3337560"/>
            <a:ext cx="12801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3931920"/>
            <a:ext cx="16459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User_45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4251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110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4251960"/>
            <a:ext cx="12801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4846320"/>
            <a:ext cx="164592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892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User_45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77440" y="5166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120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5166360"/>
            <a:ext cx="128016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12080" y="3474720"/>
            <a:ext cx="1463040" cy="1463040"/>
          </a:xfrm>
          <a:prstGeom prst="ellipse">
            <a:avLst/>
          </a:prstGeom>
          <a:solidFill>
            <a:srgbClr val="0F2A4A"/>
          </a:solidFill>
          <a:ln w="381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B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murmur2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4206240"/>
            <a:ext cx="13716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04672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Partición 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3566160"/>
            <a:ext cx="3657600" cy="8229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65592" y="3689604"/>
            <a:ext cx="509016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9016" y="3771900"/>
            <a:ext cx="58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47760" y="3689604"/>
            <a:ext cx="509016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1184" y="3771900"/>
            <a:ext cx="58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29928" y="3689604"/>
            <a:ext cx="509016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3352" y="3771900"/>
            <a:ext cx="58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912096" y="3689604"/>
            <a:ext cx="509016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0" y="3771900"/>
            <a:ext cx="58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494264" y="3689604"/>
            <a:ext cx="509016" cy="576072"/>
          </a:xfrm>
          <a:prstGeom prst="rect">
            <a:avLst/>
          </a:prstGeom>
          <a:solidFill>
            <a:srgbClr val="F1F5F9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57688" y="3771900"/>
            <a:ext cx="58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076432" y="3689604"/>
            <a:ext cx="509016" cy="576072"/>
          </a:xfrm>
          <a:prstGeom prst="rect">
            <a:avLst/>
          </a:prstGeom>
          <a:solidFill>
            <a:srgbClr val="D97706"/>
          </a:solidFill>
          <a:ln w="6350">
            <a:solidFill>
              <a:srgbClr val="0F8B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39856" y="3771900"/>
            <a:ext cx="582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539728" y="3566160"/>
            <a:ext cx="164592" cy="8229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64424" y="3566160"/>
            <a:ext cx="164592" cy="82296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Sin clave: 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usa Round-Robin o Sticky Partitioning para repartir uniformemente. </a:t>
            </a:r>
            <a:pPr algn="ctr" indent="0" marL="0">
              <a:buNone/>
            </a:pPr>
            <a:r>
              <a:rPr lang="en-US" sz="12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clave: 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eventos de la misma clave preservan su orden.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· PILAR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y Grupos: Balanceo de Carga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Kafka reparte el trabajo de lectura entre múltiples instancias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consumidores se agrupan mediante un </a:t>
            </a:r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group.id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Kafka garantiza que 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partición sea leída por un solo consumidor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la vez dentro del mismo grupo.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51760"/>
            <a:ext cx="521208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óptimo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particiones, 3 consumidores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611880"/>
            <a:ext cx="4480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1188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813048"/>
            <a:ext cx="128016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813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8880" y="3813048"/>
            <a:ext cx="1280160" cy="22860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3813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3813048"/>
            <a:ext cx="12801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813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4937760"/>
            <a:ext cx="448056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005840" y="49377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5394960"/>
            <a:ext cx="128016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394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5394960"/>
            <a:ext cx="128016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5394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0" y="5394960"/>
            <a:ext cx="128016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5394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37360" y="4041648"/>
            <a:ext cx="0" cy="1353312"/>
          </a:xfrm>
          <a:prstGeom prst="line">
            <a:avLst/>
          </a:prstGeom>
          <a:noFill/>
          <a:ln w="19050">
            <a:solidFill>
              <a:srgbClr val="0F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41648"/>
            <a:ext cx="0" cy="135331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4041648"/>
            <a:ext cx="0" cy="135331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65176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2651760"/>
            <a:ext cx="52120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Sobrecapacidad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particiones, 4 consumidores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75120" y="3611880"/>
            <a:ext cx="4480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61188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3813048"/>
            <a:ext cx="128016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813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38160" y="3813048"/>
            <a:ext cx="1280160" cy="228600"/>
          </a:xfrm>
          <a:prstGeom prst="rect">
            <a:avLst/>
          </a:prstGeom>
          <a:solidFill>
            <a:srgbClr val="0F8B8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813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509760" y="3813048"/>
            <a:ext cx="128016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38130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0" y="4937760"/>
            <a:ext cx="448056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6675120" y="49377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Group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5394960"/>
            <a:ext cx="93726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5394960"/>
            <a:ext cx="93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95260" y="5394960"/>
            <a:ext cx="93726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95260" y="5394960"/>
            <a:ext cx="93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823960" y="5394960"/>
            <a:ext cx="937260" cy="6400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23960" y="5394960"/>
            <a:ext cx="93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852660" y="5394960"/>
            <a:ext cx="937260" cy="64008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9852660" y="5394960"/>
            <a:ext cx="9372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852660" y="6053328"/>
            <a:ext cx="9372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OCIOSO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406640" y="4041648"/>
            <a:ext cx="-171450" cy="1353312"/>
          </a:xfrm>
          <a:prstGeom prst="line">
            <a:avLst/>
          </a:prstGeom>
          <a:noFill/>
          <a:ln w="19050">
            <a:solidFill>
              <a:srgbClr val="0F2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78240" y="4041648"/>
            <a:ext cx="-514350" cy="135331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149840" y="4041648"/>
            <a:ext cx="-857250" cy="135331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Clúster: Brokers, KRaft y Zookeeper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física donde vive Kafka y cómo se coordina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5120640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(Legado)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externo tradicional. Coordina el clúster, elige líderes y almacena metadatos.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5120640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</a:t>
            </a:r>
            <a:pPr indent="0" marL="0">
              <a:buNone/>
            </a:pPr>
            <a:r>
              <a:rPr lang="en-US" sz="12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(Moderno · desde 3.x)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2468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consenso interno basado en Raft. Elimina dependencias externas y mejora la escalabilidad.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2A4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Kafka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931920"/>
            <a:ext cx="2560320" cy="2103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45920" y="4572000"/>
            <a:ext cx="20116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 (Líder)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0" y="5029200"/>
            <a:ext cx="2011680" cy="320040"/>
          </a:xfrm>
          <a:prstGeom prst="rect">
            <a:avLst/>
          </a:prstGeom>
          <a:solidFill>
            <a:srgbClr val="5EBA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 (Follower)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45920" y="5486400"/>
            <a:ext cx="2011680" cy="320040"/>
          </a:xfrm>
          <a:prstGeom prst="rect">
            <a:avLst/>
          </a:prstGeom>
          <a:solidFill>
            <a:srgbClr val="5EBA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5486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 (Follower)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3931920"/>
            <a:ext cx="2560320" cy="2103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4572000"/>
            <a:ext cx="2011680" cy="320040"/>
          </a:xfrm>
          <a:prstGeom prst="rect">
            <a:avLst/>
          </a:prstGeom>
          <a:solidFill>
            <a:srgbClr val="5EBA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 (Follower)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5029200"/>
            <a:ext cx="20116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 (Líder)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5486400"/>
            <a:ext cx="2011680" cy="320040"/>
          </a:xfrm>
          <a:prstGeom prst="rect">
            <a:avLst/>
          </a:prstGeom>
          <a:solidFill>
            <a:srgbClr val="5EBA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5486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 (Follower)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3931920"/>
            <a:ext cx="2560320" cy="21031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069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3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863840" y="4572000"/>
            <a:ext cx="2011680" cy="320040"/>
          </a:xfrm>
          <a:prstGeom prst="rect">
            <a:avLst/>
          </a:prstGeom>
          <a:solidFill>
            <a:srgbClr val="5EBA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  (Follower)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63840" y="5029200"/>
            <a:ext cx="2011680" cy="320040"/>
          </a:xfrm>
          <a:prstGeom prst="rect">
            <a:avLst/>
          </a:prstGeom>
          <a:solidFill>
            <a:srgbClr val="5EBAB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 (Follower)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63840" y="5486400"/>
            <a:ext cx="20116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5486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 (Líder)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· DURABILIDAD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 Fallos: Replicación e ISR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Kafka garantiza que ningún evento se pierda aunque caiga un Broker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normal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063240"/>
            <a:ext cx="868680" cy="914400"/>
          </a:xfrm>
          <a:prstGeom prst="rect">
            <a:avLst/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3063240"/>
            <a:ext cx="868680" cy="914400"/>
          </a:xfrm>
          <a:prstGeom prst="rect">
            <a:avLst/>
          </a:prstGeom>
          <a:solidFill>
            <a:srgbClr val="0F2A4A"/>
          </a:solidFill>
          <a:ln w="19050">
            <a:solidFill>
              <a:srgbClr val="0F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88920" y="3063240"/>
            <a:ext cx="868680" cy="914400"/>
          </a:xfrm>
          <a:prstGeom prst="rect">
            <a:avLst/>
          </a:prstGeom>
          <a:solidFill>
            <a:srgbClr val="0F2A4A"/>
          </a:solidFill>
          <a:ln w="19050">
            <a:solidFill>
              <a:srgbClr val="0F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 es Líder.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a Brokers 2 y 3.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192024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091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del Líder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868680" cy="91440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5488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3063240"/>
            <a:ext cx="868680" cy="914400"/>
          </a:xfrm>
          <a:prstGeom prst="rect">
            <a:avLst/>
          </a:prstGeom>
          <a:solidFill>
            <a:srgbClr val="0F2A4A"/>
          </a:solidFill>
          <a:ln w="19050">
            <a:solidFill>
              <a:srgbClr val="0F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3063240"/>
            <a:ext cx="868680" cy="914400"/>
          </a:xfrm>
          <a:prstGeom prst="rect">
            <a:avLst/>
          </a:prstGeom>
          <a:solidFill>
            <a:srgbClr val="0F2A4A"/>
          </a:solidFill>
          <a:ln w="19050">
            <a:solidFill>
              <a:srgbClr val="0F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7512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1 cae.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réplicas siguen vivas.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0" y="192024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5953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41080" y="3063240"/>
            <a:ext cx="868680" cy="91440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864108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4108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601200" y="3063240"/>
            <a:ext cx="868680" cy="914400"/>
          </a:xfrm>
          <a:prstGeom prst="rect">
            <a:avLst/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60120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561320" y="3063240"/>
            <a:ext cx="868680" cy="914400"/>
          </a:xfrm>
          <a:prstGeom prst="rect">
            <a:avLst/>
          </a:prstGeom>
          <a:solidFill>
            <a:srgbClr val="0F2A4A"/>
          </a:solidFill>
          <a:ln w="19050">
            <a:solidFill>
              <a:srgbClr val="0F2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31546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561320" y="35204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95360" y="4114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2 (en ISR) es promovido.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al Broker 3.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4937760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4937760"/>
            <a:ext cx="73152" cy="1371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686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Factor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68680" y="5440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total de copias de una partición. Recomendado: 3.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26280" y="4937760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26280" y="4937760"/>
            <a:ext cx="73152" cy="13716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vs. Follower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54880" y="5440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lecturas y escrituras van al Líder. Los Followers replican el log.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412480" y="4937760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12480" y="493776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41080" y="5074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In-Sync Replicas (ISR)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641080" y="5440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Réplicas al día con el Líder. Si el Líder cae, se elige uno nuevo desde el grupo ISR.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 · ENTREGA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Semánticas de Entrega: Las Tres Garantías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fuerte garantiza Kafka que un evento llega exactamente como esperas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046781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28639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86861" y="1828800"/>
            <a:ext cx="2393899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8301" y="1828800"/>
            <a:ext cx="22110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principal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828800"/>
            <a:ext cx="272034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828800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productor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01100" y="1828800"/>
            <a:ext cx="2720340" cy="5029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92540" y="1828800"/>
            <a:ext cx="25374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consumidor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3046781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331720"/>
            <a:ext cx="91440" cy="1234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331720"/>
            <a:ext cx="2726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At-most-once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máximo una vez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86861" y="2331720"/>
            <a:ext cx="2393899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4021" y="2331720"/>
            <a:ext cx="21195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datos.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duplicados.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2331720"/>
            <a:ext cx="27203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331720"/>
            <a:ext cx="2446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acks=0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01100" y="2331720"/>
            <a:ext cx="27203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38260" y="2331720"/>
            <a:ext cx="2446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Comitea ANTES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procesar.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566160"/>
            <a:ext cx="3046781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3566160"/>
            <a:ext cx="91440" cy="12344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566160"/>
            <a:ext cx="2726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vez · estándar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86861" y="3566160"/>
            <a:ext cx="2393899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4021" y="3566160"/>
            <a:ext cx="21195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Duplicación de datos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reintentos.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566160"/>
            <a:ext cx="27203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566160"/>
            <a:ext cx="2446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acks=all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01100" y="3566160"/>
            <a:ext cx="27203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38260" y="3566160"/>
            <a:ext cx="2446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Comitea DESPUÉS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procesar.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3046781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4800600"/>
            <a:ext cx="9144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800600"/>
            <a:ext cx="272674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Exactly-once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una vez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86861" y="4800600"/>
            <a:ext cx="2393899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24021" y="4800600"/>
            <a:ext cx="211957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 mínima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rendimiento.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4800600"/>
            <a:ext cx="27203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800600"/>
            <a:ext cx="2446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Transacciones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 idempotente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801100" y="4800600"/>
            <a:ext cx="272034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38260" y="4800600"/>
            <a:ext cx="24460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read_committed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mayoría de microservicios, </a:t>
            </a:r>
            <a:pPr algn="ctr" indent="0" marL="0">
              <a:buNone/>
            </a:pPr>
            <a:r>
              <a:rPr lang="en-US" sz="12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idempotencia en el consumidor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balance pragmático entre simplicidad y robustez.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 · END-TO-END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Viaje Completo: De Productor a Consumidor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etapas que recorre cada evento, en orden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8836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18836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5179" y="3977640"/>
            <a:ext cx="753466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genera evento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User_123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Compra $50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9464" y="4023360"/>
            <a:ext cx="27432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89504" y="2194560"/>
            <a:ext cx="18836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9504" y="2194560"/>
            <a:ext cx="18836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2468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3072384" y="35204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54603" y="3977640"/>
            <a:ext cx="753466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411480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 calcula hash(Key)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dirige a Partición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18888" y="4023360"/>
            <a:ext cx="27432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138928" y="2194560"/>
            <a:ext cx="18836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2194560"/>
            <a:ext cx="1883664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468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5321808" y="35204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04027" y="3977640"/>
            <a:ext cx="753466" cy="0"/>
          </a:xfrm>
          <a:prstGeom prst="line">
            <a:avLst/>
          </a:prstGeom>
          <a:noFill/>
          <a:ln w="19050">
            <a:solidFill>
              <a:srgbClr val="0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411480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escribe en disco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zero-copy y replica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ISR (latencia: ms)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68312" y="4023360"/>
            <a:ext cx="27432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88352" y="2194560"/>
            <a:ext cx="18836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88352" y="2194560"/>
            <a:ext cx="1883664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88352" y="2468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7571232" y="35204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53451" y="3977640"/>
            <a:ext cx="753466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411480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envía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Request desde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Offset 405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17736" y="4023360"/>
            <a:ext cx="274320" cy="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37776" y="2194560"/>
            <a:ext cx="188366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37776" y="2194560"/>
            <a:ext cx="1883664" cy="7315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37776" y="246888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39" name="Text 37"/>
          <p:cNvSpPr/>
          <p:nvPr/>
        </p:nvSpPr>
        <p:spPr>
          <a:xfrm>
            <a:off x="9820656" y="35204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202875" y="3977640"/>
            <a:ext cx="753466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20656" y="4114800"/>
            <a:ext cx="1517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procesa el evento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comitea su nuevo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(406)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toma milisegundos. La suma define la latencia end-to-end.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Broker: El Ecosistema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que extienden Kafka sin escribir código de bajo nivel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66360" y="3749040"/>
            <a:ext cx="1828800" cy="1097280"/>
          </a:xfrm>
          <a:prstGeom prst="ellipse">
            <a:avLst/>
          </a:prstGeom>
          <a:solidFill>
            <a:srgbClr val="0F2A4A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3749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28800"/>
            <a:ext cx="91440" cy="14630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sistemas externos sin código.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Connectors importan; Sink Connectors exportan.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907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PostgreSQL, MongoDB, S3, Elasticsearch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3291840"/>
            <a:ext cx="2971800" cy="100584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400800" y="182880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828800"/>
            <a:ext cx="91440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Java para transformar, agregar y unir flujos en tiempo real.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9077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Filtrar, joins, ventanas temporales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3291840"/>
            <a:ext cx="-2971800" cy="100584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" y="507492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074920"/>
            <a:ext cx="91440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ksqlDB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 con sintaxis SQL. Sin Java, sin compilar.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6153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STREAM ventas AS SELECT...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5074920"/>
            <a:ext cx="2971800" cy="-77724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00800" y="5074920"/>
            <a:ext cx="5303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5074920"/>
            <a:ext cx="91440" cy="14630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62940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evolución controlada de esquemas (Avro, JSON, Protobuf).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29400" y="6153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8B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Compatibilidad backward / forward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5074920"/>
            <a:ext cx="-2971800" cy="-777240"/>
          </a:xfrm>
          <a:prstGeom prst="line">
            <a:avLst/>
          </a:prstGeom>
          <a:noFill/>
          <a:ln w="19050">
            <a:solidFill>
              <a:srgbClr val="0F8B8D"/>
            </a:solidFill>
            <a:prstDash val="dash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EN PRODUCCIÓN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Operando a Escala Global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Aproximadamente un tercio de las Fortune 500 usan Kafka en producción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444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34442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26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+1 000 000 000 000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26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por día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73352" y="4206240"/>
            <a:ext cx="1377696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348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de viajes, cálculo de rutas en tiempo real, logs operacionales. Creadores de uReplicator.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8640" y="2103120"/>
            <a:ext cx="3444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8640" y="2103120"/>
            <a:ext cx="3444240" cy="914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50080" y="2651760"/>
            <a:ext cx="326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+700 000 000 000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50080" y="3657600"/>
            <a:ext cx="326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diarios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91912" y="4206240"/>
            <a:ext cx="1377696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1520" y="44348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32960" y="498348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Espina dorsal del pipeline Keystone, en clústeres cloud con más de 4 000 brokers.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77200" y="2103120"/>
            <a:ext cx="3444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7200" y="2103120"/>
            <a:ext cx="3444240" cy="9144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8640" y="2651760"/>
            <a:ext cx="326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Milisegundos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168640" y="3657600"/>
            <a:ext cx="326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reacción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0472" y="4206240"/>
            <a:ext cx="1377696" cy="0"/>
          </a:xfrm>
          <a:prstGeom prst="line">
            <a:avLst/>
          </a:prstGeom>
          <a:noFill/>
          <a:ln w="25400">
            <a:solidFill>
              <a:srgbClr val="0F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0080" y="44348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analítica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51520" y="498348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monitorización hospitalaria continua hasta sensores industriales en parques eólicos.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63093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Notación: </a:t>
            </a:r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10¹² (un trillón anglosajón = un billón en español).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· Sistema Nervioso de los 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83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· CIERRE · SLIDE ANCLA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Ideas para Llevarse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371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y consumidores evolucionan a distintas velocidades sin afectarse mutuamente.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E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554480" y="3703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37033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 para dividir la carga; Consumer Groups para paralelizar el procesamiento.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554480" y="4754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Durabilidad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47548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e inmutabilidad permiten replay para auditoría, ML o recuperar tras un fallo.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943600"/>
            <a:ext cx="10881360" cy="594360"/>
          </a:xfrm>
          <a:prstGeom prst="rect">
            <a:avLst/>
          </a:prstGeom>
          <a:solidFill>
            <a:srgbClr val="081A3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SIGUIENTE PASO: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un clúster local con Docker Compose, escribe un Producer en Java o Python, y observa los eventos fluir en tiempo real.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— El Sistema Nervioso Central de los Datos</dc:title>
  <dc:subject>PptxGenJS Presentation</dc:subject>
  <dc:creator>NEXUS</dc:creator>
  <cp:lastModifiedBy>NEXUS</cp:lastModifiedBy>
  <cp:revision>1</cp:revision>
  <dcterms:created xsi:type="dcterms:W3CDTF">2026-05-04T17:12:51Z</dcterms:created>
  <dcterms:modified xsi:type="dcterms:W3CDTF">2026-05-04T17:12:51Z</dcterms:modified>
</cp:coreProperties>
</file>